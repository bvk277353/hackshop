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3" r:id="rId3"/>
    <p:sldId id="257" r:id="rId4"/>
    <p:sldId id="260" r:id="rId5"/>
    <p:sldId id="258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F6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67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84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438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964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93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37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5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1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6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8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8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3BEC-8594-4202-886D-66455826BE3E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ED396-37CE-43E8-9140-FE175187EC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41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Green Background Vector Art, Icons, and Graphics for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033" y="1727326"/>
            <a:ext cx="3696093" cy="36960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80667" y="2344111"/>
            <a:ext cx="5137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35F610"/>
                </a:solidFill>
              </a:rPr>
              <a:t>Welcome every one……..</a:t>
            </a:r>
            <a:endParaRPr lang="en-IN" sz="3600" b="1" dirty="0">
              <a:solidFill>
                <a:srgbClr val="35F61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80667" y="3120496"/>
            <a:ext cx="6278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This workshop is tailored for practical, hands on learning to ensure you’re ready to tackle API related challenges in professional settings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95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609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84185" y="395925"/>
            <a:ext cx="4164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 smtClean="0">
                <a:solidFill>
                  <a:schemeClr val="bg1"/>
                </a:solidFill>
              </a:rPr>
              <a:t>WHAT IS </a:t>
            </a:r>
            <a:r>
              <a:rPr lang="en-IN" sz="3600" b="1" dirty="0" smtClean="0">
                <a:solidFill>
                  <a:srgbClr val="35F610"/>
                </a:solidFill>
              </a:rPr>
              <a:t>NODE.JS</a:t>
            </a:r>
            <a:r>
              <a:rPr lang="en-IN" sz="3600" b="1" dirty="0" smtClean="0">
                <a:solidFill>
                  <a:schemeClr val="bg1"/>
                </a:solidFill>
              </a:rPr>
              <a:t>?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85958" y="1220080"/>
            <a:ext cx="544837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chemeClr val="bg1"/>
                </a:solidFill>
              </a:rPr>
              <a:t>JavaScript runtime built on Chrome’s V8 engine.</a:t>
            </a:r>
          </a:p>
          <a:p>
            <a:endParaRPr lang="en-IN" sz="2000" b="1" dirty="0" smtClean="0">
              <a:solidFill>
                <a:schemeClr val="bg1"/>
              </a:solidFill>
            </a:endParaRPr>
          </a:p>
          <a:p>
            <a:r>
              <a:rPr lang="en-IN" sz="2000" b="1" dirty="0" smtClean="0">
                <a:solidFill>
                  <a:schemeClr val="bg1"/>
                </a:solidFill>
              </a:rPr>
              <a:t>Runs JavaScript outside the browser (server-side). Ideal for building fast &amp; scalable applications.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 smtClean="0">
                <a:solidFill>
                  <a:schemeClr val="bg1"/>
                </a:solidFill>
              </a:rPr>
              <a:t>Why Use </a:t>
            </a:r>
            <a:r>
              <a:rPr lang="en-IN" sz="2000" b="1" dirty="0" smtClean="0">
                <a:solidFill>
                  <a:srgbClr val="35F610"/>
                </a:solidFill>
              </a:rPr>
              <a:t>Node.js</a:t>
            </a:r>
            <a:r>
              <a:rPr lang="en-IN" sz="2000" b="1" dirty="0" smtClean="0">
                <a:solidFill>
                  <a:schemeClr val="bg1"/>
                </a:solidFill>
              </a:rPr>
              <a:t> for APIs?</a:t>
            </a:r>
          </a:p>
          <a:p>
            <a:endParaRPr lang="en-IN" sz="2000" b="1" dirty="0" smtClean="0">
              <a:solidFill>
                <a:schemeClr val="bg1"/>
              </a:solidFill>
            </a:endParaRPr>
          </a:p>
          <a:p>
            <a:r>
              <a:rPr lang="en-IN" sz="2000" b="1" dirty="0" smtClean="0">
                <a:solidFill>
                  <a:schemeClr val="bg1"/>
                </a:solidFill>
              </a:rPr>
              <a:t>✅ Asynchronous, Non-Blocking – Handles multiple requests efficiently.</a:t>
            </a:r>
          </a:p>
          <a:p>
            <a:endParaRPr lang="en-IN" sz="2000" b="1" dirty="0" smtClean="0">
              <a:solidFill>
                <a:schemeClr val="bg1"/>
              </a:solidFill>
            </a:endParaRPr>
          </a:p>
          <a:p>
            <a:r>
              <a:rPr lang="en-IN" sz="2000" b="1" dirty="0" smtClean="0">
                <a:solidFill>
                  <a:schemeClr val="bg1"/>
                </a:solidFill>
              </a:rPr>
              <a:t>✅ Fast Execution – Powered by the V8 engine.</a:t>
            </a:r>
          </a:p>
          <a:p>
            <a:endParaRPr lang="en-IN" sz="2000" b="1" dirty="0" smtClean="0">
              <a:solidFill>
                <a:schemeClr val="bg1"/>
              </a:solidFill>
            </a:endParaRPr>
          </a:p>
          <a:p>
            <a:r>
              <a:rPr lang="en-IN" sz="2000" b="1" dirty="0" smtClean="0">
                <a:solidFill>
                  <a:schemeClr val="bg1"/>
                </a:solidFill>
              </a:rPr>
              <a:t>✅ JavaScript Everywhere – Same language for frontend &amp; backend.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 smtClean="0">
                <a:solidFill>
                  <a:schemeClr val="bg1"/>
                </a:solidFill>
              </a:rPr>
              <a:t>✅ Rich Ecosystem – Access to NPM (Node Package Manager).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6" name="AutoShape 2" descr="Node Js Logo png images | PNGEg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1821811"/>
            <a:ext cx="5755457" cy="324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1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Lime Green Black Background Images - Free Download on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6236"/>
            <a:ext cx="12192001" cy="686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" t="22005" r="1828" b="12913"/>
          <a:stretch/>
        </p:blipFill>
        <p:spPr>
          <a:xfrm>
            <a:off x="538362" y="1074657"/>
            <a:ext cx="11115273" cy="37612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09064" y="148586"/>
            <a:ext cx="56208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b="1" dirty="0" smtClean="0">
                <a:solidFill>
                  <a:schemeClr val="bg1"/>
                </a:solidFill>
              </a:rPr>
              <a:t>THE </a:t>
            </a:r>
            <a:r>
              <a:rPr lang="en-IN" sz="4800" b="1" dirty="0" smtClean="0">
                <a:solidFill>
                  <a:srgbClr val="35F610"/>
                </a:solidFill>
              </a:rPr>
              <a:t>NODE JS </a:t>
            </a:r>
            <a:r>
              <a:rPr lang="en-IN" sz="4800" b="1" dirty="0" smtClean="0">
                <a:solidFill>
                  <a:schemeClr val="bg1"/>
                </a:solidFill>
              </a:rPr>
              <a:t>SYSTEM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67974" y="5062145"/>
            <a:ext cx="9343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solidFill>
                  <a:schemeClr val="bg1"/>
                </a:solidFill>
              </a:rPr>
              <a:t>How </a:t>
            </a:r>
            <a:r>
              <a:rPr lang="en-IN" sz="2400" dirty="0" smtClean="0">
                <a:solidFill>
                  <a:srgbClr val="35F610"/>
                </a:solidFill>
              </a:rPr>
              <a:t>Node.js</a:t>
            </a:r>
            <a:r>
              <a:rPr lang="en-IN" sz="2400" dirty="0" smtClean="0">
                <a:solidFill>
                  <a:schemeClr val="bg1"/>
                </a:solidFill>
              </a:rPr>
              <a:t> Works?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bg1"/>
                </a:solidFill>
              </a:rPr>
              <a:t>Single-Threaded Event Loop manages multiple requests.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bg1"/>
                </a:solidFill>
              </a:rPr>
              <a:t>Executes I/O operations asynchronously (files, DB, APIs).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 smtClean="0">
                <a:solidFill>
                  <a:schemeClr val="bg1"/>
                </a:solidFill>
              </a:rPr>
              <a:t>Uses </a:t>
            </a:r>
            <a:r>
              <a:rPr lang="en-IN" sz="2400" dirty="0" err="1" smtClean="0">
                <a:solidFill>
                  <a:schemeClr val="bg1"/>
                </a:solidFill>
              </a:rPr>
              <a:t>callbacks</a:t>
            </a:r>
            <a:r>
              <a:rPr lang="en-IN" sz="2400" dirty="0" smtClean="0">
                <a:solidFill>
                  <a:schemeClr val="bg1"/>
                </a:solidFill>
              </a:rPr>
              <a:t>, promises, and </a:t>
            </a:r>
            <a:r>
              <a:rPr lang="en-IN" sz="2400" dirty="0" err="1" smtClean="0">
                <a:solidFill>
                  <a:schemeClr val="bg1"/>
                </a:solidFill>
              </a:rPr>
              <a:t>async</a:t>
            </a:r>
            <a:r>
              <a:rPr lang="en-IN" sz="2400" dirty="0" smtClean="0">
                <a:solidFill>
                  <a:schemeClr val="bg1"/>
                </a:solidFill>
              </a:rPr>
              <a:t>/await for efficiency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16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97" y="2202180"/>
            <a:ext cx="2311105" cy="23111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1870" y="186958"/>
            <a:ext cx="566616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 smtClean="0">
                <a:solidFill>
                  <a:schemeClr val="bg1"/>
                </a:solidFill>
              </a:rPr>
              <a:t>Introduction to </a:t>
            </a:r>
            <a:r>
              <a:rPr lang="en-IN" sz="5400" b="1" dirty="0" smtClean="0">
                <a:solidFill>
                  <a:srgbClr val="35F610"/>
                </a:solidFill>
              </a:rPr>
              <a:t>API</a:t>
            </a:r>
            <a:endParaRPr lang="en-IN" sz="5400" b="1" dirty="0">
              <a:solidFill>
                <a:srgbClr val="35F61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25209" y="1145962"/>
            <a:ext cx="9642379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u="sng" dirty="0" smtClean="0">
                <a:solidFill>
                  <a:srgbClr val="35F610"/>
                </a:solidFill>
              </a:rPr>
              <a:t>API </a:t>
            </a:r>
            <a:r>
              <a:rPr lang="en-IN" sz="2000" b="1" u="sng" dirty="0" smtClean="0">
                <a:solidFill>
                  <a:schemeClr val="bg1"/>
                </a:solidFill>
              </a:rPr>
              <a:t>Overview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A set of protocols and tools that enable software systems to interact 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and exchange data.</a:t>
            </a:r>
          </a:p>
          <a:p>
            <a:endParaRPr lang="en-IN" sz="2000" dirty="0" smtClean="0">
              <a:solidFill>
                <a:schemeClr val="bg1"/>
              </a:solidFill>
            </a:endParaRPr>
          </a:p>
          <a:p>
            <a:r>
              <a:rPr lang="en-IN" sz="2000" u="sng" dirty="0" smtClean="0">
                <a:solidFill>
                  <a:schemeClr val="bg1"/>
                </a:solidFill>
              </a:rPr>
              <a:t>How APIs Work: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Enable one app to request data or actions from another app or service.</a:t>
            </a:r>
          </a:p>
          <a:p>
            <a:endParaRPr lang="en-IN" sz="2000" dirty="0" smtClean="0">
              <a:solidFill>
                <a:schemeClr val="bg1"/>
              </a:solidFill>
            </a:endParaRPr>
          </a:p>
          <a:p>
            <a:r>
              <a:rPr lang="en-IN" sz="2000" u="sng" dirty="0" smtClean="0">
                <a:solidFill>
                  <a:schemeClr val="bg1"/>
                </a:solidFill>
              </a:rPr>
              <a:t>Types of APIs:</a:t>
            </a:r>
          </a:p>
          <a:p>
            <a:r>
              <a:rPr lang="en-IN" sz="2000" u="sng" dirty="0" smtClean="0">
                <a:solidFill>
                  <a:srgbClr val="35F610"/>
                </a:solidFill>
              </a:rPr>
              <a:t>REST:</a:t>
            </a:r>
            <a:r>
              <a:rPr lang="en-IN" sz="2000" dirty="0" smtClean="0">
                <a:solidFill>
                  <a:schemeClr val="bg1"/>
                </a:solidFill>
              </a:rPr>
              <a:t> Uses HTTP and returns data in JSON format.</a:t>
            </a:r>
          </a:p>
          <a:p>
            <a:r>
              <a:rPr lang="en-IN" sz="2000" u="sng" dirty="0" smtClean="0">
                <a:solidFill>
                  <a:srgbClr val="35F610"/>
                </a:solidFill>
              </a:rPr>
              <a:t>SOAP:</a:t>
            </a:r>
            <a:r>
              <a:rPr lang="en-IN" sz="2000" dirty="0" smtClean="0">
                <a:solidFill>
                  <a:schemeClr val="bg1"/>
                </a:solidFill>
              </a:rPr>
              <a:t> A protocol for exchanging structured data.</a:t>
            </a:r>
          </a:p>
          <a:p>
            <a:r>
              <a:rPr lang="en-IN" sz="2000" u="sng" dirty="0" err="1" smtClean="0">
                <a:solidFill>
                  <a:srgbClr val="35F610"/>
                </a:solidFill>
              </a:rPr>
              <a:t>GraphQL</a:t>
            </a:r>
            <a:r>
              <a:rPr lang="en-IN" sz="2000" u="sng" dirty="0" smtClean="0">
                <a:solidFill>
                  <a:srgbClr val="35F610"/>
                </a:solidFill>
              </a:rPr>
              <a:t>: </a:t>
            </a:r>
            <a:r>
              <a:rPr lang="en-IN" sz="2000" dirty="0" smtClean="0">
                <a:solidFill>
                  <a:schemeClr val="bg1"/>
                </a:solidFill>
              </a:rPr>
              <a:t>Allows flexible data queries.</a:t>
            </a:r>
          </a:p>
          <a:p>
            <a:endParaRPr lang="en-IN" sz="2000" dirty="0" smtClean="0">
              <a:solidFill>
                <a:schemeClr val="bg1"/>
              </a:solidFill>
            </a:endParaRPr>
          </a:p>
          <a:p>
            <a:r>
              <a:rPr lang="en-IN" sz="2000" u="sng" dirty="0" smtClean="0">
                <a:solidFill>
                  <a:schemeClr val="bg1"/>
                </a:solidFill>
              </a:rPr>
              <a:t>Benefits of Using APIs</a:t>
            </a:r>
            <a:r>
              <a:rPr lang="en-IN" sz="2000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Connects different systems and facilitates data sharing or feature integration.</a:t>
            </a:r>
          </a:p>
          <a:p>
            <a:endParaRPr lang="en-IN" sz="2000" dirty="0" smtClean="0">
              <a:solidFill>
                <a:schemeClr val="bg1"/>
              </a:solidFill>
            </a:endParaRPr>
          </a:p>
          <a:p>
            <a:r>
              <a:rPr lang="en-IN" sz="2000" u="sng" dirty="0" smtClean="0">
                <a:solidFill>
                  <a:schemeClr val="bg1"/>
                </a:solidFill>
              </a:rPr>
              <a:t>Real-World Examples</a:t>
            </a:r>
            <a:r>
              <a:rPr lang="en-IN" sz="2000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IN" sz="2000" dirty="0" smtClean="0">
                <a:solidFill>
                  <a:schemeClr val="bg1"/>
                </a:solidFill>
              </a:rPr>
              <a:t>Social media logins, payment gateways, weather data services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53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ack Green Theme Vector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Black Green Theme Vector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Black Green Theme Vectors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 descr="Black green abstract modern geometric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10" descr="Black green abstract modern geometric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7"/>
            <a:ext cx="12192000" cy="68762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50730" y="75927"/>
            <a:ext cx="6485641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rgbClr val="35F610"/>
                </a:solidFill>
              </a:rPr>
              <a:t>REST</a:t>
            </a:r>
            <a:r>
              <a:rPr lang="en-IN" dirty="0" smtClean="0">
                <a:solidFill>
                  <a:schemeClr val="bg1"/>
                </a:solidFill>
              </a:rPr>
              <a:t> (Representational State Transfer) is an architectural style for designing networked applications.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A RESTful API follows REST principles to allow communication between client and server.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Uses stateless HTTP requests to perform operations on data.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Key Characteristics of RESTful APIs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rgbClr val="35F610"/>
                </a:solidFill>
              </a:rPr>
              <a:t>Stateless</a:t>
            </a:r>
            <a:r>
              <a:rPr lang="en-IN" dirty="0" smtClean="0">
                <a:solidFill>
                  <a:schemeClr val="bg1"/>
                </a:solidFill>
              </a:rPr>
              <a:t> – Each request is independent; no session is stored on the server.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rgbClr val="35F610"/>
                </a:solidFill>
              </a:rPr>
              <a:t>Client-Server Architecture </a:t>
            </a:r>
            <a:r>
              <a:rPr lang="en-IN" dirty="0" smtClean="0">
                <a:solidFill>
                  <a:schemeClr val="bg1"/>
                </a:solidFill>
              </a:rPr>
              <a:t>– The frontend (client) and backend (server) are separate.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rgbClr val="35F610"/>
                </a:solidFill>
              </a:rPr>
              <a:t>Resource-Based (URI</a:t>
            </a:r>
            <a:r>
              <a:rPr lang="en-IN" dirty="0" smtClean="0">
                <a:solidFill>
                  <a:schemeClr val="bg1"/>
                </a:solidFill>
              </a:rPr>
              <a:t>) – Each entity is represented by a unique URL (e.g., /users/1).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rgbClr val="35F610"/>
                </a:solidFill>
              </a:rPr>
              <a:t>Uses HTTP Methods </a:t>
            </a:r>
            <a:r>
              <a:rPr lang="en-IN" dirty="0" smtClean="0">
                <a:solidFill>
                  <a:schemeClr val="bg1"/>
                </a:solidFill>
              </a:rPr>
              <a:t>– Standard operations like GET, POST, PUT, DELETE.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rgbClr val="35F610"/>
                </a:solidFill>
              </a:rPr>
              <a:t>Supports Multiple Formats </a:t>
            </a:r>
            <a:r>
              <a:rPr lang="en-IN" dirty="0" smtClean="0">
                <a:solidFill>
                  <a:schemeClr val="bg1"/>
                </a:solidFill>
              </a:rPr>
              <a:t>– Typically returns JSON or XML responses.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7950" y="384359"/>
            <a:ext cx="44855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chemeClr val="bg1"/>
                </a:solidFill>
              </a:rPr>
              <a:t>What is a </a:t>
            </a:r>
            <a:r>
              <a:rPr lang="en-IN" sz="2800" b="1" dirty="0" smtClean="0">
                <a:solidFill>
                  <a:srgbClr val="35F610"/>
                </a:solidFill>
              </a:rPr>
              <a:t>RESTful API?</a:t>
            </a:r>
            <a:endParaRPr lang="en-IN" b="1" dirty="0" smtClean="0">
              <a:solidFill>
                <a:srgbClr val="35F61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2217233"/>
            <a:ext cx="4147794" cy="276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7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4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362733" y="16747"/>
            <a:ext cx="724607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u="sng" dirty="0" smtClean="0">
                <a:solidFill>
                  <a:srgbClr val="35F610"/>
                </a:solidFill>
              </a:rPr>
              <a:t>API</a:t>
            </a:r>
            <a:r>
              <a:rPr lang="en-IN" b="1" u="sng" dirty="0" smtClean="0">
                <a:solidFill>
                  <a:schemeClr val="bg1"/>
                </a:solidFill>
              </a:rPr>
              <a:t> Design Best Practices:</a:t>
            </a:r>
          </a:p>
          <a:p>
            <a:endParaRPr lang="en-IN" b="1" u="sng" dirty="0" smtClean="0">
              <a:solidFill>
                <a:schemeClr val="bg1"/>
              </a:solidFill>
            </a:endParaRPr>
          </a:p>
          <a:p>
            <a:r>
              <a:rPr lang="en-IN" b="1" dirty="0" smtClean="0">
                <a:solidFill>
                  <a:schemeClr val="bg1"/>
                </a:solidFill>
              </a:rPr>
              <a:t>What is API Design?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Defines how clients interact with backend </a:t>
            </a:r>
            <a:r>
              <a:rPr lang="en-IN" dirty="0" err="1" smtClean="0">
                <a:solidFill>
                  <a:schemeClr val="bg1"/>
                </a:solidFill>
              </a:rPr>
              <a:t>systems.Ensures</a:t>
            </a:r>
            <a:r>
              <a:rPr lang="en-IN" dirty="0" smtClean="0">
                <a:solidFill>
                  <a:schemeClr val="bg1"/>
                </a:solidFill>
              </a:rPr>
              <a:t> APIs are intuitive, scalable, and secure.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u="sng" dirty="0" smtClean="0">
                <a:solidFill>
                  <a:schemeClr val="bg1"/>
                </a:solidFill>
              </a:rPr>
              <a:t>Key Principles:</a:t>
            </a:r>
          </a:p>
          <a:p>
            <a:r>
              <a:rPr lang="en-IN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chemeClr val="bg1"/>
                </a:solidFill>
              </a:rPr>
              <a:t>Consistency – Uniform endpoints (/users/{id}). 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Simplicity – Clear, easy-to-use URLs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chemeClr val="bg1"/>
                </a:solidFill>
              </a:rPr>
              <a:t>Versioning /v1/users for changes. 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Security – OAuth, API keys.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</a:t>
            </a:r>
            <a:r>
              <a:rPr lang="en-IN" dirty="0" smtClean="0">
                <a:solidFill>
                  <a:schemeClr val="bg1"/>
                </a:solidFill>
              </a:rPr>
              <a:t>Performance – Use caching &amp; pagination.</a:t>
            </a:r>
          </a:p>
          <a:p>
            <a:r>
              <a:rPr lang="en-IN" u="sng" dirty="0" smtClean="0">
                <a:solidFill>
                  <a:schemeClr val="bg1"/>
                </a:solidFill>
              </a:rPr>
              <a:t>Best Practices: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Meaningful Resource Names (/users not /</a:t>
            </a:r>
            <a:r>
              <a:rPr lang="en-IN" dirty="0" err="1" smtClean="0">
                <a:solidFill>
                  <a:schemeClr val="bg1"/>
                </a:solidFill>
              </a:rPr>
              <a:t>getUsers</a:t>
            </a:r>
            <a:r>
              <a:rPr lang="en-IN" dirty="0" smtClean="0">
                <a:solidFill>
                  <a:schemeClr val="bg1"/>
                </a:solidFill>
              </a:rPr>
              <a:t>).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Proper HTTP Methods (GET, POST, PUT, DELETE).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Clear Error Messages (404 Not Found, 500 Internal Error).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JSON Responses for easy integration.</a:t>
            </a:r>
          </a:p>
          <a:p>
            <a:r>
              <a:rPr lang="en-IN" u="sng" dirty="0" smtClean="0">
                <a:solidFill>
                  <a:schemeClr val="bg1"/>
                </a:solidFill>
              </a:rPr>
              <a:t>Example API end points:</a:t>
            </a:r>
          </a:p>
          <a:p>
            <a:r>
              <a:rPr lang="en-IN" u="sng" dirty="0" smtClean="0">
                <a:solidFill>
                  <a:schemeClr val="bg1"/>
                </a:solidFill>
              </a:rPr>
              <a:t>Operation</a:t>
            </a:r>
            <a:r>
              <a:rPr lang="en-IN" dirty="0" smtClean="0">
                <a:solidFill>
                  <a:schemeClr val="bg1"/>
                </a:solidFill>
              </a:rPr>
              <a:t>	</a:t>
            </a:r>
            <a:r>
              <a:rPr lang="en-IN" u="sng" dirty="0" smtClean="0">
                <a:solidFill>
                  <a:schemeClr val="bg1"/>
                </a:solidFill>
              </a:rPr>
              <a:t>Endpoint	Method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Get Users	    	 /users		GET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Create User	/users		POST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Update User	/users/{id}	PUT</a:t>
            </a:r>
          </a:p>
          <a:p>
            <a:r>
              <a:rPr lang="nb-NO" dirty="0" smtClean="0">
                <a:solidFill>
                  <a:schemeClr val="bg1"/>
                </a:solidFill>
              </a:rPr>
              <a:t>Delete User	/users/{id}	DELETE</a:t>
            </a:r>
            <a:endParaRPr lang="en-IN" dirty="0" smtClean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2445928"/>
            <a:ext cx="3746783" cy="21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2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reen And Black Images – Browse 9,169,793 Stock Photos, Vectors, and Video  | Adobe 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API Setting Color Line Icon Stock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841434" y="932425"/>
            <a:ext cx="751944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chemeClr val="bg1"/>
                </a:solidFill>
              </a:rPr>
              <a:t>Prevents data breaches &amp; unauthorized access.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chemeClr val="bg1"/>
                </a:solidFill>
              </a:rPr>
              <a:t>Protects sensitive user information.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u="sng" dirty="0" smtClean="0">
                <a:solidFill>
                  <a:schemeClr val="bg1"/>
                </a:solidFill>
              </a:rPr>
              <a:t>Key Security Measures: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Authentication &amp; Authorization – Use OAuth2, JWT for secure access.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API Keys &amp; Rate Limiting – Control access &amp; prevent abuse.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HTTPS Encryption – Secure communication with SSL/TLS.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Input Validation – Prevent SQL Injection &amp; XSS attacks.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Error Handling – Avoid exposing sensitive info (Use proper HTTP status codes).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CORS Policy – Restrict access to trusted domains.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✅ Logging &amp; Monitoring – Detect suspicious activities &amp; threats.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u="sng" dirty="0" smtClean="0">
                <a:solidFill>
                  <a:schemeClr val="bg1"/>
                </a:solidFill>
              </a:rPr>
              <a:t>Example: </a:t>
            </a:r>
            <a:r>
              <a:rPr lang="en-IN" dirty="0" smtClean="0">
                <a:solidFill>
                  <a:schemeClr val="bg1"/>
                </a:solidFill>
              </a:rPr>
              <a:t>Secure API Authentication (JWT Token)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User logs in → Server issues JWT Token.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Every request includes Authorization: Bearer &lt;token&gt;.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Server validates token → Grants or denies access.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smtClean="0">
                <a:solidFill>
                  <a:schemeClr val="bg1"/>
                </a:solidFill>
              </a:rPr>
              <a:t> Always prioritize </a:t>
            </a:r>
            <a:r>
              <a:rPr lang="en-IN" dirty="0" smtClean="0">
                <a:solidFill>
                  <a:srgbClr val="35F610"/>
                </a:solidFill>
              </a:rPr>
              <a:t>security</a:t>
            </a:r>
            <a:r>
              <a:rPr lang="en-IN" dirty="0" smtClean="0">
                <a:solidFill>
                  <a:schemeClr val="bg1"/>
                </a:solidFill>
              </a:rPr>
              <a:t> in API development!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6228" y="670815"/>
            <a:ext cx="37317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u="sng" dirty="0" smtClean="0">
                <a:solidFill>
                  <a:schemeClr val="bg1"/>
                </a:solidFill>
              </a:rPr>
              <a:t>WHY </a:t>
            </a:r>
            <a:r>
              <a:rPr lang="en-IN" sz="2800" b="1" u="sng" dirty="0" smtClean="0">
                <a:solidFill>
                  <a:srgbClr val="35F610"/>
                </a:solidFill>
              </a:rPr>
              <a:t>API </a:t>
            </a:r>
            <a:r>
              <a:rPr lang="en-IN" sz="2800" b="1" u="sng" dirty="0" smtClean="0">
                <a:solidFill>
                  <a:schemeClr val="bg1"/>
                </a:solidFill>
              </a:rPr>
              <a:t>SECURITY?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609457"/>
            <a:ext cx="4427458" cy="24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9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624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LAYOLA</dc:creator>
  <cp:lastModifiedBy>LAYOLA</cp:lastModifiedBy>
  <cp:revision>14</cp:revision>
  <dcterms:created xsi:type="dcterms:W3CDTF">2025-02-09T11:00:32Z</dcterms:created>
  <dcterms:modified xsi:type="dcterms:W3CDTF">2025-02-09T12:43:37Z</dcterms:modified>
</cp:coreProperties>
</file>